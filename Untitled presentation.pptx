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EB Garamond Medium"/>
      <p:regular r:id="rId17"/>
      <p:bold r:id="rId18"/>
      <p:italic r:id="rId19"/>
      <p:boldItalic r:id="rId20"/>
    </p:embeddedFont>
    <p:embeddedFont>
      <p:font typeface="EB Garamond SemiBold"/>
      <p:regular r:id="rId21"/>
      <p:bold r:id="rId22"/>
      <p:italic r:id="rId23"/>
      <p:boldItalic r:id="rId24"/>
    </p:embeddedFont>
    <p:embeddedFont>
      <p:font typeface="EB Garamond"/>
      <p:regular r:id="rId25"/>
      <p:bold r:id="rId26"/>
      <p:italic r:id="rId27"/>
      <p:boldItalic r:id="rId28"/>
    </p:embeddedFont>
    <p:embeddedFont>
      <p:font typeface="Lexend Medium"/>
      <p:regular r:id="rId29"/>
      <p:bold r:id="rId30"/>
    </p:embeddedFont>
    <p:embeddedFont>
      <p:font typeface="Spectral Light"/>
      <p:regular r:id="rId31"/>
      <p:bold r:id="rId32"/>
      <p:italic r:id="rId33"/>
      <p:boldItalic r:id="rId34"/>
    </p:embeddedFont>
    <p:embeddedFont>
      <p:font typeface="Lexend"/>
      <p:regular r:id="rId35"/>
      <p:bold r:id="rId36"/>
    </p:embeddedFont>
    <p:embeddedFont>
      <p:font typeface="Roboto Mon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boldItalic.fntdata"/><Relationship Id="rId20" Type="http://schemas.openxmlformats.org/officeDocument/2006/relationships/font" Target="fonts/EBGaramondMedium-boldItalic.fntdata"/><Relationship Id="rId22" Type="http://schemas.openxmlformats.org/officeDocument/2006/relationships/font" Target="fonts/EBGaramondSemiBold-bold.fntdata"/><Relationship Id="rId21" Type="http://schemas.openxmlformats.org/officeDocument/2006/relationships/font" Target="fonts/EBGaramondSemiBold-regular.fntdata"/><Relationship Id="rId24" Type="http://schemas.openxmlformats.org/officeDocument/2006/relationships/font" Target="fonts/EBGaramondSemiBold-boldItalic.fntdata"/><Relationship Id="rId23" Type="http://schemas.openxmlformats.org/officeDocument/2006/relationships/font" Target="fonts/EBGaramond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BGaramond-bold.fntdata"/><Relationship Id="rId25" Type="http://schemas.openxmlformats.org/officeDocument/2006/relationships/font" Target="fonts/EBGaramond-regular.fntdata"/><Relationship Id="rId28" Type="http://schemas.openxmlformats.org/officeDocument/2006/relationships/font" Target="fonts/EBGaramond-boldItalic.fntdata"/><Relationship Id="rId27" Type="http://schemas.openxmlformats.org/officeDocument/2006/relationships/font" Target="fonts/EBGaramon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exendMedium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pectralLight-regular.fntdata"/><Relationship Id="rId30" Type="http://schemas.openxmlformats.org/officeDocument/2006/relationships/font" Target="fonts/LexendMedium-bold.fntdata"/><Relationship Id="rId11" Type="http://schemas.openxmlformats.org/officeDocument/2006/relationships/slide" Target="slides/slide6.xml"/><Relationship Id="rId33" Type="http://schemas.openxmlformats.org/officeDocument/2006/relationships/font" Target="fonts/SpectralLight-italic.fntdata"/><Relationship Id="rId10" Type="http://schemas.openxmlformats.org/officeDocument/2006/relationships/slide" Target="slides/slide5.xml"/><Relationship Id="rId32" Type="http://schemas.openxmlformats.org/officeDocument/2006/relationships/font" Target="fonts/SpectralLight-bold.fntdata"/><Relationship Id="rId13" Type="http://schemas.openxmlformats.org/officeDocument/2006/relationships/slide" Target="slides/slide8.xml"/><Relationship Id="rId35" Type="http://schemas.openxmlformats.org/officeDocument/2006/relationships/font" Target="fonts/Lexend-regular.fntdata"/><Relationship Id="rId12" Type="http://schemas.openxmlformats.org/officeDocument/2006/relationships/slide" Target="slides/slide7.xml"/><Relationship Id="rId34" Type="http://schemas.openxmlformats.org/officeDocument/2006/relationships/font" Target="fonts/SpectralLight-boldItalic.fntdata"/><Relationship Id="rId15" Type="http://schemas.openxmlformats.org/officeDocument/2006/relationships/slide" Target="slides/slide10.xml"/><Relationship Id="rId37" Type="http://schemas.openxmlformats.org/officeDocument/2006/relationships/font" Target="fonts/RobotoMono-regular.fntdata"/><Relationship Id="rId14" Type="http://schemas.openxmlformats.org/officeDocument/2006/relationships/slide" Target="slides/slide9.xml"/><Relationship Id="rId36" Type="http://schemas.openxmlformats.org/officeDocument/2006/relationships/font" Target="fonts/Lexend-bold.fntdata"/><Relationship Id="rId17" Type="http://schemas.openxmlformats.org/officeDocument/2006/relationships/font" Target="fonts/EBGaramondMedium-regular.fntdata"/><Relationship Id="rId39" Type="http://schemas.openxmlformats.org/officeDocument/2006/relationships/font" Target="fonts/RobotoMono-italic.fntdata"/><Relationship Id="rId16" Type="http://schemas.openxmlformats.org/officeDocument/2006/relationships/slide" Target="slides/slide11.xml"/><Relationship Id="rId38" Type="http://schemas.openxmlformats.org/officeDocument/2006/relationships/font" Target="fonts/RobotoMono-bold.fntdata"/><Relationship Id="rId19" Type="http://schemas.openxmlformats.org/officeDocument/2006/relationships/font" Target="fonts/EBGaramondMedium-italic.fntdata"/><Relationship Id="rId18" Type="http://schemas.openxmlformats.org/officeDocument/2006/relationships/font" Target="fonts/EBGaramond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60f32d96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60f32d9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61f557b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61f557b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60f32d96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60f32d96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60f32d96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60f32d96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60f32d96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60f32d96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60f32d96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60f32d96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60f32d96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60f32d96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60f32d96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60f32d96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b60f32d96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b60f32d96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60f32d962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b60f32d962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CCC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483075"/>
            <a:ext cx="8520600" cy="16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EB Garamond Medium"/>
                <a:ea typeface="EB Garamond Medium"/>
                <a:cs typeface="EB Garamond Medium"/>
                <a:sym typeface="EB Garamond Medium"/>
              </a:rPr>
              <a:t>INTER-BRANCH TRANSFER(IBT) AUTOMATION &amp;  SMART INVENTORY MOVEMENT</a:t>
            </a:r>
            <a:endParaRPr>
              <a:latin typeface="EB Garamond Medium"/>
              <a:ea typeface="EB Garamond Medium"/>
              <a:cs typeface="EB Garamond Medium"/>
              <a:sym typeface="EB Garamond Medium"/>
            </a:endParaRPr>
          </a:p>
        </p:txBody>
      </p:sp>
      <p:pic>
        <p:nvPicPr>
          <p:cNvPr id="55" name="Google Shape;55;p13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3925" y="159775"/>
            <a:ext cx="2816150" cy="281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9D9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03000" y="395225"/>
            <a:ext cx="8777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S</a:t>
            </a:r>
            <a:r>
              <a:rPr b="1" lang="en-GB" sz="26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toxl</a:t>
            </a:r>
            <a:r>
              <a:rPr b="1" lang="en-GB" sz="2600">
                <a:solidFill>
                  <a:schemeClr val="dk2"/>
                </a:solidFill>
                <a:latin typeface="EB Garamond"/>
                <a:ea typeface="EB Garamond"/>
                <a:cs typeface="EB Garamond"/>
                <a:sym typeface="EB Garamond"/>
              </a:rPr>
              <a:t>y is a smart inventory and analytics platform focused on:</a:t>
            </a:r>
            <a:endParaRPr b="1" sz="2600">
              <a:solidFill>
                <a:schemeClr val="dk2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03000" y="1359775"/>
            <a:ext cx="7988700" cy="23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Spectral Light"/>
                <a:ea typeface="Spectral Light"/>
                <a:cs typeface="Spectral Light"/>
                <a:sym typeface="Spectral Light"/>
              </a:rPr>
              <a:t>Optimizing stock distribution</a:t>
            </a:r>
            <a:endParaRPr sz="23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Spectral Light"/>
                <a:ea typeface="Spectral Light"/>
                <a:cs typeface="Spectral Light"/>
                <a:sym typeface="Spectral Light"/>
              </a:rPr>
              <a:t>Reducing inventory inefficiencies</a:t>
            </a:r>
            <a:endParaRPr sz="23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Spectral Light"/>
              <a:ea typeface="Spectral Light"/>
              <a:cs typeface="Spectral Light"/>
              <a:sym typeface="Spectral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Spectral Light"/>
                <a:ea typeface="Spectral Light"/>
                <a:cs typeface="Spectral Light"/>
                <a:sym typeface="Spectral Light"/>
              </a:rPr>
              <a:t>Enabling data-driven decision making across multiple branches</a:t>
            </a:r>
            <a:endParaRPr sz="2300">
              <a:latin typeface="Spectral Light"/>
              <a:ea typeface="Spectral Light"/>
              <a:cs typeface="Spectral Light"/>
              <a:sym typeface="Spectral Light"/>
            </a:endParaRPr>
          </a:p>
        </p:txBody>
      </p:sp>
      <p:pic>
        <p:nvPicPr>
          <p:cNvPr id="62" name="Google Shape;62;p14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6400" y="4558500"/>
            <a:ext cx="585000" cy="58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title="blurry-picture-of-shelves-in-contemporary-warehouse-photo.jpg"/>
          <p:cNvPicPr preferRelativeResize="0"/>
          <p:nvPr/>
        </p:nvPicPr>
        <p:blipFill rotWithShape="1">
          <a:blip r:embed="rId4">
            <a:alphaModFix/>
          </a:blip>
          <a:srcRect b="0" l="9958" r="0" t="9559"/>
          <a:stretch/>
        </p:blipFill>
        <p:spPr>
          <a:xfrm>
            <a:off x="5690350" y="1071575"/>
            <a:ext cx="3272850" cy="16775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>
            <a:off x="133150" y="1588875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5" name="Google Shape;65;p14"/>
          <p:cNvSpPr/>
          <p:nvPr/>
        </p:nvSpPr>
        <p:spPr>
          <a:xfrm>
            <a:off x="133150" y="2278775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66" name="Google Shape;66;p14"/>
          <p:cNvSpPr/>
          <p:nvPr/>
        </p:nvSpPr>
        <p:spPr>
          <a:xfrm>
            <a:off x="133150" y="2968675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37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920">
                <a:latin typeface="Lexend"/>
                <a:ea typeface="Lexend"/>
                <a:cs typeface="Lexend"/>
                <a:sym typeface="Lexend"/>
              </a:rPr>
              <a:t>Group Name :</a:t>
            </a:r>
            <a:r>
              <a:rPr lang="en-GB" sz="322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3220">
                <a:latin typeface="Georgia"/>
                <a:ea typeface="Georgia"/>
                <a:cs typeface="Georgia"/>
                <a:sym typeface="Georgia"/>
              </a:rPr>
              <a:t>ONE PIECE</a:t>
            </a:r>
            <a:endParaRPr sz="322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latin typeface="EB Garamond SemiBold"/>
                <a:ea typeface="EB Garamond SemiBold"/>
                <a:cs typeface="EB Garamond SemiBold"/>
                <a:sym typeface="EB Garamond SemiBold"/>
              </a:rPr>
              <a:t>Group Members :</a:t>
            </a:r>
            <a:endParaRPr sz="2400">
              <a:latin typeface="EB Garamond SemiBold"/>
              <a:ea typeface="EB Garamond SemiBold"/>
              <a:cs typeface="EB Garamond SemiBold"/>
              <a:sym typeface="EB Garamond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Arjun K A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Athuldev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Yadhukrishna MJ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Keerthana P Kini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82500" y="1965750"/>
            <a:ext cx="229200" cy="155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100800" y="2512650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5" name="Google Shape;75;p15"/>
          <p:cNvSpPr/>
          <p:nvPr/>
        </p:nvSpPr>
        <p:spPr>
          <a:xfrm>
            <a:off x="100800" y="3068875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76" name="Google Shape;76;p15"/>
          <p:cNvSpPr/>
          <p:nvPr/>
        </p:nvSpPr>
        <p:spPr>
          <a:xfrm>
            <a:off x="100800" y="3625100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8375" y="355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20">
                <a:latin typeface="Roboto Mono"/>
                <a:ea typeface="Roboto Mono"/>
                <a:cs typeface="Roboto Mono"/>
                <a:sym typeface="Roboto Mono"/>
              </a:rPr>
              <a:t>Problem Statement</a:t>
            </a:r>
            <a:endParaRPr sz="322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Lexend"/>
                <a:ea typeface="Lexend"/>
                <a:cs typeface="Lexend"/>
                <a:sym typeface="Lexend"/>
              </a:rPr>
              <a:t>Retail organizations face challenges such as: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Uneven stock distribution across branches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Excess inventory in low-demand stores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Stock shortages in high-demand locations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Manual Inter-Branch Transfers (IBT) causing delays and errors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9800" y="4570800"/>
            <a:ext cx="57270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/>
          <p:nvPr/>
        </p:nvSpPr>
        <p:spPr>
          <a:xfrm>
            <a:off x="100800" y="1906650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5" name="Google Shape;85;p16"/>
          <p:cNvSpPr/>
          <p:nvPr/>
        </p:nvSpPr>
        <p:spPr>
          <a:xfrm>
            <a:off x="100800" y="2512650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6" name="Google Shape;86;p16"/>
          <p:cNvSpPr/>
          <p:nvPr/>
        </p:nvSpPr>
        <p:spPr>
          <a:xfrm>
            <a:off x="100800" y="3068725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87" name="Google Shape;87;p16"/>
          <p:cNvSpPr/>
          <p:nvPr/>
        </p:nvSpPr>
        <p:spPr>
          <a:xfrm>
            <a:off x="100800" y="3624800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20">
                <a:latin typeface="Roboto Mono"/>
                <a:ea typeface="Roboto Mono"/>
                <a:cs typeface="Roboto Mono"/>
                <a:sym typeface="Roboto Mono"/>
              </a:rPr>
              <a:t>Key Challenges Identified</a:t>
            </a:r>
            <a:endParaRPr sz="322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22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75550" y="1558050"/>
            <a:ext cx="8520600" cy="31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Lack of real-time visibility on Rate of Sale (ROS)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Accumulation of dead stock (zero sales for long duration)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Inefficient manual stock transfer process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Increased holding and operational costs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7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1325" y="4570800"/>
            <a:ext cx="57270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/>
          <p:nvPr/>
        </p:nvSpPr>
        <p:spPr>
          <a:xfrm>
            <a:off x="164650" y="1773650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96" name="Google Shape;96;p17"/>
          <p:cNvSpPr/>
          <p:nvPr/>
        </p:nvSpPr>
        <p:spPr>
          <a:xfrm>
            <a:off x="164650" y="2339900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97" name="Google Shape;97;p17"/>
          <p:cNvSpPr/>
          <p:nvPr/>
        </p:nvSpPr>
        <p:spPr>
          <a:xfrm>
            <a:off x="164650" y="2906150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98" name="Google Shape;98;p17"/>
          <p:cNvSpPr/>
          <p:nvPr/>
        </p:nvSpPr>
        <p:spPr>
          <a:xfrm>
            <a:off x="164650" y="3472400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20">
                <a:latin typeface="Roboto Mono"/>
                <a:ea typeface="Roboto Mono"/>
                <a:cs typeface="Roboto Mono"/>
                <a:sym typeface="Roboto Mono"/>
              </a:rPr>
              <a:t>Proposed Solution by Stoxly</a:t>
            </a:r>
            <a:endParaRPr sz="322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>
                <a:latin typeface="Courier New"/>
                <a:ea typeface="Courier New"/>
                <a:cs typeface="Courier New"/>
                <a:sym typeface="Courier New"/>
              </a:rPr>
              <a:t>Stoxly introduces an IBT Automation &amp; Smart Inventory Movement System that:</a:t>
            </a: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Continuously monitors sales performance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Identifies surplus and deficit stock locations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Automates intelligent inter-branch stock transfers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18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0800" y="4570800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 title="photorealistic-scene-with-warehouse-logistics-operations_23-215146880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68900" y="2054450"/>
            <a:ext cx="2651100" cy="185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/>
          <p:nvPr/>
        </p:nvSpPr>
        <p:spPr>
          <a:xfrm>
            <a:off x="133125" y="2202275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8" name="Google Shape;108;p18"/>
          <p:cNvSpPr/>
          <p:nvPr/>
        </p:nvSpPr>
        <p:spPr>
          <a:xfrm>
            <a:off x="133125" y="2738950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09" name="Google Shape;109;p18"/>
          <p:cNvSpPr/>
          <p:nvPr/>
        </p:nvSpPr>
        <p:spPr>
          <a:xfrm>
            <a:off x="133125" y="3275625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20">
                <a:latin typeface="Roboto Mono"/>
                <a:ea typeface="Roboto Mono"/>
                <a:cs typeface="Roboto Mono"/>
                <a:sym typeface="Roboto Mono"/>
              </a:rPr>
              <a:t>Solution Architecture</a:t>
            </a:r>
            <a:endParaRPr sz="322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Lexend Medium"/>
                <a:ea typeface="Lexend Medium"/>
                <a:cs typeface="Lexend Medium"/>
                <a:sym typeface="Lexend Medium"/>
              </a:rPr>
              <a:t>The Stoxly system works by:</a:t>
            </a:r>
            <a:endParaRPr sz="23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Tracking Rate of Sale (ROS) at each branch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Detecting surplus stock in low-ROS stores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Identifying high-demand stores with stock requirements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Triggering optimized IBT recommendations or actions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9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3850" y="4515350"/>
            <a:ext cx="628150" cy="6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/>
          <p:nvPr/>
        </p:nvSpPr>
        <p:spPr>
          <a:xfrm>
            <a:off x="155325" y="1970400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8" name="Google Shape;118;p19"/>
          <p:cNvSpPr/>
          <p:nvPr/>
        </p:nvSpPr>
        <p:spPr>
          <a:xfrm>
            <a:off x="155325" y="2512650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19" name="Google Shape;119;p19"/>
          <p:cNvSpPr/>
          <p:nvPr/>
        </p:nvSpPr>
        <p:spPr>
          <a:xfrm>
            <a:off x="155325" y="3054900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20" name="Google Shape;120;p19"/>
          <p:cNvSpPr/>
          <p:nvPr/>
        </p:nvSpPr>
        <p:spPr>
          <a:xfrm>
            <a:off x="155325" y="3597150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20">
                <a:latin typeface="Roboto Mono"/>
                <a:ea typeface="Roboto Mono"/>
                <a:cs typeface="Roboto Mono"/>
                <a:sym typeface="Roboto Mono"/>
              </a:rPr>
              <a:t>Dead Stock Detection &amp; Redistribution</a:t>
            </a:r>
            <a:endParaRPr sz="322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311700" y="1685775"/>
            <a:ext cx="8520600" cy="28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Products with zero ROS for 45+ days are flagged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Such items are classified as dead stock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Stock is redistributed to branches where demand exists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Minimizes idle inventory and loss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0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8175" y="4512875"/>
            <a:ext cx="630625" cy="63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/>
          <p:nvPr/>
        </p:nvSpPr>
        <p:spPr>
          <a:xfrm>
            <a:off x="137750" y="1914000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29" name="Google Shape;129;p20"/>
          <p:cNvSpPr/>
          <p:nvPr/>
        </p:nvSpPr>
        <p:spPr>
          <a:xfrm>
            <a:off x="137750" y="2453550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30" name="Google Shape;130;p20"/>
          <p:cNvSpPr/>
          <p:nvPr/>
        </p:nvSpPr>
        <p:spPr>
          <a:xfrm>
            <a:off x="137750" y="2993100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31" name="Google Shape;131;p20"/>
          <p:cNvSpPr/>
          <p:nvPr/>
        </p:nvSpPr>
        <p:spPr>
          <a:xfrm>
            <a:off x="137750" y="3575825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r>
              <a:rPr lang="en-GB" sz="3577">
                <a:latin typeface="Roboto Mono"/>
                <a:ea typeface="Roboto Mono"/>
                <a:cs typeface="Roboto Mono"/>
                <a:sym typeface="Roboto Mono"/>
              </a:rPr>
              <a:t>Benefits of the Solution</a:t>
            </a:r>
            <a:endParaRPr sz="3577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Improved inventory utilization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Reduced dead stock and holding costs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Faster and accurate stock movement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Increased sales fulfillment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Reduced dependency on manual operations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p21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6100" y="4522725"/>
            <a:ext cx="620775" cy="620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/>
          <p:nvPr/>
        </p:nvSpPr>
        <p:spPr>
          <a:xfrm>
            <a:off x="100800" y="1404125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40" name="Google Shape;140;p21"/>
          <p:cNvSpPr/>
          <p:nvPr/>
        </p:nvSpPr>
        <p:spPr>
          <a:xfrm>
            <a:off x="100800" y="1933425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41" name="Google Shape;141;p21"/>
          <p:cNvSpPr/>
          <p:nvPr/>
        </p:nvSpPr>
        <p:spPr>
          <a:xfrm>
            <a:off x="100800" y="2512650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42" name="Google Shape;142;p21"/>
          <p:cNvSpPr/>
          <p:nvPr/>
        </p:nvSpPr>
        <p:spPr>
          <a:xfrm>
            <a:off x="100800" y="3091875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43" name="Google Shape;143;p21"/>
          <p:cNvSpPr/>
          <p:nvPr/>
        </p:nvSpPr>
        <p:spPr>
          <a:xfrm>
            <a:off x="100800" y="3621175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20">
                <a:latin typeface="Roboto Mono"/>
                <a:ea typeface="Roboto Mono"/>
                <a:cs typeface="Roboto Mono"/>
                <a:sym typeface="Roboto Mono"/>
              </a:rPr>
              <a:t>Business Impact</a:t>
            </a:r>
            <a:endParaRPr sz="322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/>
              <a:t>Better customer satisfaction due to product availability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/>
              <a:t>Optimized working capital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/>
              <a:t>Scalable solution for multi-branch operations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/>
              <a:t>Enhanced operational efficiency</a:t>
            </a:r>
            <a:endParaRPr sz="2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2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9475" y="4511700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2" title="warehouse-interior-overview-stockcak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6345300" y="1995325"/>
            <a:ext cx="2645325" cy="2645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2"/>
          <p:cNvSpPr/>
          <p:nvPr/>
        </p:nvSpPr>
        <p:spPr>
          <a:xfrm>
            <a:off x="100800" y="1374575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53" name="Google Shape;153;p22"/>
          <p:cNvSpPr/>
          <p:nvPr/>
        </p:nvSpPr>
        <p:spPr>
          <a:xfrm>
            <a:off x="100800" y="1926025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54" name="Google Shape;154;p22"/>
          <p:cNvSpPr/>
          <p:nvPr/>
        </p:nvSpPr>
        <p:spPr>
          <a:xfrm>
            <a:off x="100800" y="2477475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55" name="Google Shape;155;p22"/>
          <p:cNvSpPr/>
          <p:nvPr/>
        </p:nvSpPr>
        <p:spPr>
          <a:xfrm>
            <a:off x="100800" y="3028925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220">
                <a:latin typeface="Roboto Mono"/>
                <a:ea typeface="Roboto Mono"/>
                <a:cs typeface="Roboto Mono"/>
                <a:sym typeface="Roboto Mono"/>
              </a:rPr>
              <a:t>Conclusion</a:t>
            </a:r>
            <a:endParaRPr sz="322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1" name="Google Shape;16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>
                <a:latin typeface="Lexend Medium"/>
                <a:ea typeface="Lexend Medium"/>
                <a:cs typeface="Lexend Medium"/>
                <a:sym typeface="Lexend Medium"/>
              </a:rPr>
              <a:t>Stoxly’s IBT Automation system provides a smart, efficient, and scalable approach to inventory management by:</a:t>
            </a:r>
            <a:endParaRPr sz="2100">
              <a:latin typeface="Lexend Medium"/>
              <a:ea typeface="Lexend Medium"/>
              <a:cs typeface="Lexend Medium"/>
              <a:sym typeface="Lexend Medium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Leveraging sales data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Automating stock movement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300">
                <a:latin typeface="Calibri"/>
                <a:ea typeface="Calibri"/>
                <a:cs typeface="Calibri"/>
                <a:sym typeface="Calibri"/>
              </a:rPr>
              <a:t>Enabling balanced inventory across all branches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2" name="Google Shape;162;p23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9150" y="4570800"/>
            <a:ext cx="572700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3"/>
          <p:cNvSpPr/>
          <p:nvPr/>
        </p:nvSpPr>
        <p:spPr>
          <a:xfrm>
            <a:off x="100800" y="2261375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64" name="Google Shape;164;p23"/>
          <p:cNvSpPr/>
          <p:nvPr/>
        </p:nvSpPr>
        <p:spPr>
          <a:xfrm>
            <a:off x="100800" y="2849800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65" name="Google Shape;165;p23"/>
          <p:cNvSpPr/>
          <p:nvPr/>
        </p:nvSpPr>
        <p:spPr>
          <a:xfrm>
            <a:off x="100800" y="3379075"/>
            <a:ext cx="210900" cy="11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